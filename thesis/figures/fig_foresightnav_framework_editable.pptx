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" y="73152"/>
            <a:ext cx="1920240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0252B"/>
                </a:solidFill>
                <a:latin typeface="Times New Roman"/>
              </a:rPr>
              <a:t>Local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3160" y="73152"/>
            <a:ext cx="1874519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0252B"/>
                </a:solidFill>
                <a:latin typeface="Times New Roman"/>
              </a:rPr>
              <a:t>Modality encoders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73152"/>
            <a:ext cx="2468880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0252B"/>
                </a:solidFill>
                <a:latin typeface="Times New Roman"/>
              </a:rPr>
              <a:t>Shared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73152"/>
            <a:ext cx="2788920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0252B"/>
                </a:solidFill>
                <a:latin typeface="Times New Roman"/>
              </a:rPr>
              <a:t>Predictive actor-critic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73152"/>
            <a:ext cx="1600200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0252B"/>
                </a:solidFill>
                <a:latin typeface="Times New Roman"/>
              </a:rPr>
              <a:t>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411480"/>
            <a:ext cx="2029968" cy="3383280"/>
          </a:xfrm>
          <a:prstGeom prst="roundRect">
            <a:avLst/>
          </a:prstGeom>
          <a:solidFill>
            <a:srgbClr val="FCFAFF"/>
          </a:solidFill>
          <a:ln w="15875">
            <a:solidFill>
              <a:srgbClr val="7A4DC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694944"/>
            <a:ext cx="1719072" cy="713232"/>
          </a:xfrm>
          <a:prstGeom prst="roundRect">
            <a:avLst/>
          </a:prstGeom>
          <a:solidFill>
            <a:srgbClr val="EAF4FA"/>
          </a:solidFill>
          <a:ln w="1270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" y="896112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" y="896112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896112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" y="896112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896112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" y="896112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" y="973836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" y="973836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973836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" y="973836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973836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" y="973836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" y="1051560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" y="1051560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1051560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" y="1051560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" y="1051560"/>
            <a:ext cx="53035" cy="53035"/>
          </a:xfrm>
          <a:prstGeom prst="rect">
            <a:avLst/>
          </a:prstGeom>
          <a:solidFill>
            <a:srgbClr val="3D8FC4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" y="1051560"/>
            <a:ext cx="53035" cy="53035"/>
          </a:xfrm>
          <a:prstGeom prst="rect">
            <a:avLst/>
          </a:prstGeom>
          <a:solidFill>
            <a:srgbClr val="FFFFFF"/>
          </a:solidFill>
          <a:ln w="6350">
            <a:solidFill>
              <a:srgbClr val="3D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841248"/>
            <a:ext cx="841248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3D8FC4"/>
                </a:solidFill>
                <a:latin typeface="Times New Roman"/>
              </a:rPr>
              <a:t>LiDAR Lₜ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1069848"/>
            <a:ext cx="859536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37D"/>
                </a:solidFill>
                <a:latin typeface="Times New Roman"/>
              </a:rPr>
              <a:t>36 × 4 proximity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1709928"/>
            <a:ext cx="1719072" cy="713232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D9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1856231"/>
            <a:ext cx="1536192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D97A24"/>
                </a:solidFill>
                <a:latin typeface="Times New Roman"/>
              </a:rPr>
              <a:t>Dynamic obstacles Dₜ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112264"/>
            <a:ext cx="1536192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37D"/>
                </a:solidFill>
                <a:latin typeface="Times New Roman"/>
              </a:rPr>
              <a:t>5 × 10 ordered states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724912"/>
            <a:ext cx="1719072" cy="713232"/>
          </a:xfrm>
          <a:prstGeom prst="roundRect">
            <a:avLst/>
          </a:prstGeom>
          <a:solidFill>
            <a:srgbClr val="FFF8DE"/>
          </a:solidFill>
          <a:ln w="12700">
            <a:solidFill>
              <a:srgbClr val="C69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871216"/>
            <a:ext cx="1536192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C6C0B"/>
                </a:solidFill>
                <a:latin typeface="Times New Roman"/>
              </a:rPr>
              <a:t>Navigation state sₜ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127248"/>
            <a:ext cx="1536192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8737D"/>
                </a:solidFill>
                <a:latin typeface="Times New Roman"/>
              </a:rPr>
              <a:t>goal and UAV motion (8-D)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32304" y="640080"/>
            <a:ext cx="1856231" cy="932688"/>
          </a:xfrm>
          <a:prstGeom prst="roundRect">
            <a:avLst/>
          </a:prstGeom>
          <a:solidFill>
            <a:srgbClr val="EAF4FA"/>
          </a:solidFill>
          <a:ln w="15240">
            <a:solidFill>
              <a:srgbClr val="3D8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pezoid 35"/>
          <p:cNvSpPr/>
          <p:nvPr/>
        </p:nvSpPr>
        <p:spPr>
          <a:xfrm rot="5640000">
            <a:off x="2651760" y="891540"/>
            <a:ext cx="310896" cy="502920"/>
          </a:xfrm>
          <a:prstGeom prst="trapezoid">
            <a:avLst/>
          </a:prstGeom>
          <a:solidFill>
            <a:srgbClr val="3D8FC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pezoid 36"/>
          <p:cNvSpPr/>
          <p:nvPr/>
        </p:nvSpPr>
        <p:spPr>
          <a:xfrm rot="5640000">
            <a:off x="3145536" y="932688"/>
            <a:ext cx="265176" cy="420624"/>
          </a:xfrm>
          <a:prstGeom prst="trapezoid">
            <a:avLst/>
          </a:prstGeom>
          <a:solidFill>
            <a:srgbClr val="3D8FC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pezoid 37"/>
          <p:cNvSpPr/>
          <p:nvPr/>
        </p:nvSpPr>
        <p:spPr>
          <a:xfrm rot="5640000">
            <a:off x="3566160" y="978408"/>
            <a:ext cx="192024" cy="329184"/>
          </a:xfrm>
          <a:prstGeom prst="trapezoid">
            <a:avLst/>
          </a:prstGeom>
          <a:solidFill>
            <a:srgbClr val="3D8FC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0904" y="676656"/>
            <a:ext cx="1399031" cy="2103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0252B"/>
                </a:solidFill>
                <a:latin typeface="Times New Roman"/>
              </a:rPr>
              <a:t>LiDAR CNN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3048" y="1362456"/>
            <a:ext cx="40233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3D8FC4"/>
                </a:solidFill>
                <a:latin typeface="Times New Roman"/>
              </a:rPr>
              <a:t>128-D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32304" y="1746504"/>
            <a:ext cx="1856231" cy="932688"/>
          </a:xfrm>
          <a:prstGeom prst="roundRect">
            <a:avLst/>
          </a:prstGeom>
          <a:solidFill>
            <a:srgbClr val="FFF1E3"/>
          </a:solidFill>
          <a:ln w="15240">
            <a:solidFill>
              <a:srgbClr val="D97A2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pezoid 41"/>
          <p:cNvSpPr/>
          <p:nvPr/>
        </p:nvSpPr>
        <p:spPr>
          <a:xfrm rot="5640000">
            <a:off x="2651760" y="1997964"/>
            <a:ext cx="310896" cy="502920"/>
          </a:xfrm>
          <a:prstGeom prst="trapezoid">
            <a:avLst/>
          </a:prstGeom>
          <a:solidFill>
            <a:srgbClr val="D97A2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pezoid 42"/>
          <p:cNvSpPr/>
          <p:nvPr/>
        </p:nvSpPr>
        <p:spPr>
          <a:xfrm rot="5640000">
            <a:off x="3145536" y="2039112"/>
            <a:ext cx="265176" cy="420624"/>
          </a:xfrm>
          <a:prstGeom prst="trapezoid">
            <a:avLst/>
          </a:prstGeom>
          <a:solidFill>
            <a:srgbClr val="D97A2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pezoid 43"/>
          <p:cNvSpPr/>
          <p:nvPr/>
        </p:nvSpPr>
        <p:spPr>
          <a:xfrm rot="5640000">
            <a:off x="3566160" y="2084831"/>
            <a:ext cx="192024" cy="329184"/>
          </a:xfrm>
          <a:prstGeom prst="trapezoid">
            <a:avLst/>
          </a:prstGeom>
          <a:solidFill>
            <a:srgbClr val="D97A24"/>
          </a:solidFill>
          <a:ln w="8890">
            <a:solidFill>
              <a:srgbClr val="202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60904" y="1783080"/>
            <a:ext cx="1399031" cy="2103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0252B"/>
                </a:solidFill>
                <a:latin typeface="Times New Roman"/>
              </a:rPr>
              <a:t>Dynamic-obstacle MLP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3048" y="2468879"/>
            <a:ext cx="40233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D97A24"/>
                </a:solidFill>
                <a:latin typeface="Times New Roman"/>
              </a:rPr>
              <a:t>64-D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93392" y="1051560"/>
            <a:ext cx="438912" cy="0"/>
          </a:xfrm>
          <a:prstGeom prst="line">
            <a:avLst/>
          </a:prstGeom>
          <a:ln w="13970">
            <a:solidFill>
              <a:srgbClr val="3D8F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93392" y="2066543"/>
            <a:ext cx="438912" cy="146305"/>
          </a:xfrm>
          <a:prstGeom prst="line">
            <a:avLst/>
          </a:prstGeom>
          <a:ln w="13970">
            <a:solidFill>
              <a:srgbClr val="D97A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88536" y="1106424"/>
            <a:ext cx="210312" cy="0"/>
          </a:xfrm>
          <a:prstGeom prst="line">
            <a:avLst/>
          </a:prstGeom>
          <a:ln w="12700">
            <a:solidFill>
              <a:srgbClr val="3D8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98848" y="1106424"/>
            <a:ext cx="0" cy="1115568"/>
          </a:xfrm>
          <a:prstGeom prst="line">
            <a:avLst/>
          </a:prstGeom>
          <a:ln w="12700">
            <a:solidFill>
              <a:srgbClr val="3D8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498848" y="2221992"/>
            <a:ext cx="137160" cy="0"/>
          </a:xfrm>
          <a:prstGeom prst="line">
            <a:avLst/>
          </a:prstGeom>
          <a:ln w="12700">
            <a:solidFill>
              <a:srgbClr val="3D8F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288536" y="2212848"/>
            <a:ext cx="347472" cy="9144"/>
          </a:xfrm>
          <a:prstGeom prst="line">
            <a:avLst/>
          </a:prstGeom>
          <a:ln w="12700">
            <a:solidFill>
              <a:srgbClr val="D97A2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993392" y="3081528"/>
            <a:ext cx="2395728" cy="0"/>
          </a:xfrm>
          <a:prstGeom prst="line">
            <a:avLst/>
          </a:prstGeom>
          <a:ln w="1270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89120" y="2331720"/>
            <a:ext cx="0" cy="749808"/>
          </a:xfrm>
          <a:prstGeom prst="line">
            <a:avLst/>
          </a:prstGeom>
          <a:ln w="1270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89120" y="2331720"/>
            <a:ext cx="246888" cy="0"/>
          </a:xfrm>
          <a:prstGeom prst="line">
            <a:avLst/>
          </a:prstGeom>
          <a:ln w="12700">
            <a:solidFill>
              <a:srgbClr val="C69A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553712" y="2139696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4F73"/>
                </a:solidFill>
                <a:latin typeface="Times New Roman"/>
              </a:rPr>
              <a:t>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65192" y="1874519"/>
            <a:ext cx="1316736" cy="786384"/>
          </a:xfrm>
          <a:prstGeom prst="roundRect">
            <a:avLst/>
          </a:prstGeom>
          <a:solidFill>
            <a:srgbClr val="E9F0F6"/>
          </a:solidFill>
          <a:ln w="14604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2011680"/>
            <a:ext cx="109728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244F73"/>
                </a:solidFill>
                <a:latin typeface="Times New Roman"/>
              </a:rPr>
              <a:t>Fusion MLP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2295144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37D"/>
                </a:solidFill>
                <a:latin typeface="Times New Roman"/>
              </a:rPr>
              <a:t>feature fusion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828032" y="2276856"/>
            <a:ext cx="137160" cy="0"/>
          </a:xfrm>
          <a:prstGeom prst="line">
            <a:avLst/>
          </a:prstGeom>
          <a:ln w="12700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473952" y="1874519"/>
            <a:ext cx="777240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47104" y="2011680"/>
            <a:ext cx="630936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244F73"/>
                </a:solidFill>
                <a:latin typeface="Times New Roman"/>
              </a:rPr>
              <a:t>zₜ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47104" y="2304288"/>
            <a:ext cx="630936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8737D"/>
                </a:solidFill>
                <a:latin typeface="Times New Roman"/>
              </a:rPr>
              <a:t>256-D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281928" y="2276856"/>
            <a:ext cx="192024" cy="0"/>
          </a:xfrm>
          <a:prstGeom prst="line">
            <a:avLst/>
          </a:prstGeom>
          <a:ln w="12700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51192" y="2276856"/>
            <a:ext cx="246887" cy="0"/>
          </a:xfrm>
          <a:prstGeom prst="line">
            <a:avLst/>
          </a:prstGeom>
          <a:ln w="12700">
            <a:solidFill>
              <a:srgbClr val="3D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498079" y="1106424"/>
            <a:ext cx="0" cy="2459736"/>
          </a:xfrm>
          <a:prstGeom prst="line">
            <a:avLst/>
          </a:prstGeom>
          <a:ln w="12700">
            <a:solidFill>
              <a:srgbClr val="3D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717536" y="429768"/>
            <a:ext cx="1938528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52B"/>
                </a:solidFill>
                <a:latin typeface="Times New Roman"/>
              </a:rPr>
              <a:t>Beta policy actor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17536" y="676656"/>
            <a:ext cx="1938528" cy="896112"/>
          </a:xfrm>
          <a:prstGeom prst="roundRect">
            <a:avLst/>
          </a:prstGeom>
          <a:solidFill>
            <a:srgbClr val="E9F0F6"/>
          </a:solidFill>
          <a:ln w="15875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028431" y="905256"/>
            <a:ext cx="658369" cy="0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28431" y="905256"/>
            <a:ext cx="658369" cy="146304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28431" y="905256"/>
            <a:ext cx="658369" cy="292608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28431" y="905256"/>
            <a:ext cx="658369" cy="43891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028431" y="905256"/>
            <a:ext cx="658369" cy="219456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028431" y="1051560"/>
            <a:ext cx="658369" cy="7315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028431" y="1124712"/>
            <a:ext cx="658369" cy="7315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28431" y="1124712"/>
            <a:ext cx="658369" cy="219456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028431" y="905256"/>
            <a:ext cx="658369" cy="43891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28431" y="1051560"/>
            <a:ext cx="658369" cy="292608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028431" y="1197864"/>
            <a:ext cx="658369" cy="146304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028431" y="1344168"/>
            <a:ext cx="658369" cy="0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686800" y="905256"/>
            <a:ext cx="658367" cy="0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86800" y="905256"/>
            <a:ext cx="658367" cy="43891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686800" y="905256"/>
            <a:ext cx="658367" cy="146304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86800" y="1051560"/>
            <a:ext cx="658367" cy="292608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686800" y="905256"/>
            <a:ext cx="658367" cy="292608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686800" y="1197864"/>
            <a:ext cx="658367" cy="146304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686800" y="905256"/>
            <a:ext cx="658367" cy="438912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686800" y="1344168"/>
            <a:ext cx="658367" cy="0"/>
          </a:xfrm>
          <a:prstGeom prst="line">
            <a:avLst/>
          </a:prstGeom>
          <a:ln w="5715">
            <a:solidFill>
              <a:srgbClr val="24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978140" y="854964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78140" y="107442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978140" y="1293876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636508" y="854964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636508" y="1001268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636508" y="1147572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636508" y="1293876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294876" y="854964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294876" y="1293876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17536" y="1591056"/>
            <a:ext cx="1938528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68737D"/>
                </a:solidFill>
                <a:latin typeface="Times New Roman"/>
              </a:rPr>
              <a:t>αₜ, βₜ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17536" y="1792224"/>
            <a:ext cx="1938528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52B"/>
                </a:solidFill>
                <a:latin typeface="Times New Roman"/>
              </a:rPr>
              <a:t>Observation-conditioned critic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717536" y="2039112"/>
            <a:ext cx="1938528" cy="749808"/>
          </a:xfrm>
          <a:prstGeom prst="roundRect">
            <a:avLst/>
          </a:prstGeom>
          <a:solidFill>
            <a:srgbClr val="EDF6EF"/>
          </a:solidFill>
          <a:ln w="15875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8028431" y="2267712"/>
            <a:ext cx="658369" cy="0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028431" y="2267712"/>
            <a:ext cx="658369" cy="97536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028431" y="2267712"/>
            <a:ext cx="658369" cy="195072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028431" y="2267712"/>
            <a:ext cx="658369" cy="29260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028431" y="2267712"/>
            <a:ext cx="658369" cy="146304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028431" y="2365248"/>
            <a:ext cx="658369" cy="4876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028431" y="2414016"/>
            <a:ext cx="658369" cy="4876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28431" y="2414016"/>
            <a:ext cx="658369" cy="146304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028431" y="2267712"/>
            <a:ext cx="658369" cy="29260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028431" y="2365248"/>
            <a:ext cx="658369" cy="195072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028431" y="2462784"/>
            <a:ext cx="658369" cy="97536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028431" y="2560320"/>
            <a:ext cx="658369" cy="0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686800" y="2267712"/>
            <a:ext cx="658367" cy="0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686800" y="2267712"/>
            <a:ext cx="658367" cy="29260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686800" y="2267712"/>
            <a:ext cx="658367" cy="97536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686800" y="2365248"/>
            <a:ext cx="658367" cy="195072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686800" y="2267712"/>
            <a:ext cx="658367" cy="195072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686800" y="2462784"/>
            <a:ext cx="658367" cy="97536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86800" y="2267712"/>
            <a:ext cx="658367" cy="292608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686800" y="2560320"/>
            <a:ext cx="658367" cy="0"/>
          </a:xfrm>
          <a:prstGeom prst="line">
            <a:avLst/>
          </a:prstGeom>
          <a:ln w="5715">
            <a:solidFill>
              <a:srgbClr val="5B8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7978140" y="221742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978140" y="2363724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978140" y="2510027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636508" y="221742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636508" y="2314955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636508" y="2412492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636508" y="2510027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294876" y="221742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294876" y="2510027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B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717536" y="2807208"/>
            <a:ext cx="1938528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68737D"/>
                </a:solidFill>
                <a:latin typeface="Times New Roman"/>
              </a:rPr>
              <a:t>Vψ(oₜ)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498079" y="1124712"/>
            <a:ext cx="219457" cy="0"/>
          </a:xfrm>
          <a:prstGeom prst="line">
            <a:avLst/>
          </a:prstGeom>
          <a:ln w="12700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498079" y="2414016"/>
            <a:ext cx="219457" cy="0"/>
          </a:xfrm>
          <a:prstGeom prst="line">
            <a:avLst/>
          </a:prstGeom>
          <a:ln w="12700">
            <a:solidFill>
              <a:srgbClr val="5B8F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7717536" y="3127248"/>
            <a:ext cx="1938528" cy="941832"/>
          </a:xfrm>
          <a:prstGeom prst="roundRect">
            <a:avLst/>
          </a:prstGeom>
          <a:solidFill>
            <a:srgbClr val="E8F7F4"/>
          </a:solidFill>
          <a:ln w="14604">
            <a:solidFill>
              <a:srgbClr val="119A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45552" y="3227832"/>
            <a:ext cx="1682496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19A8D"/>
                </a:solidFill>
                <a:latin typeface="Times New Roman"/>
              </a:rPr>
              <a:t>Multi-horizon outcome
predictor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45552" y="3602736"/>
            <a:ext cx="1682496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0252B"/>
                </a:solidFill>
                <a:latin typeface="Times New Roman"/>
              </a:rPr>
              <a:t>h ∈ {1, 3, 5}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90688" y="3803904"/>
            <a:ext cx="1792224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8737D"/>
                </a:solidFill>
                <a:latin typeface="Times New Roman"/>
              </a:rPr>
              <a:t>collision · stuck · clearance · progress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7498079" y="3584448"/>
            <a:ext cx="219457" cy="0"/>
          </a:xfrm>
          <a:prstGeom prst="line">
            <a:avLst/>
          </a:prstGeom>
          <a:ln w="12700">
            <a:solidFill>
              <a:srgbClr val="119A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10387584" y="749808"/>
            <a:ext cx="1627632" cy="80467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488168" y="868680"/>
            <a:ext cx="1426464" cy="2103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244F73"/>
                </a:solidFill>
                <a:latin typeface="Times New Roman"/>
              </a:rPr>
              <a:t>Bounded 3-D velocity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469880" y="1124712"/>
            <a:ext cx="146304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0252B"/>
                </a:solidFill>
                <a:latin typeface="Times New Roman"/>
              </a:rPr>
              <a:t>aₜᴳ = vlim(2ãₜ − 1)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469880" y="1335024"/>
            <a:ext cx="1463040" cy="14630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8737D"/>
                </a:solidFill>
                <a:latin typeface="Times New Roman"/>
              </a:rPr>
              <a:t>vlim = 2 m/s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9656064" y="1124712"/>
            <a:ext cx="731520" cy="0"/>
          </a:xfrm>
          <a:prstGeom prst="line">
            <a:avLst/>
          </a:prstGeom>
          <a:ln w="14604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966960" y="1124712"/>
            <a:ext cx="0" cy="1801368"/>
          </a:xfrm>
          <a:prstGeom prst="line">
            <a:avLst/>
          </a:prstGeom>
          <a:ln w="11430">
            <a:solidFill>
              <a:srgbClr val="119A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9784080" y="2926080"/>
            <a:ext cx="182880" cy="0"/>
          </a:xfrm>
          <a:prstGeom prst="line">
            <a:avLst/>
          </a:prstGeom>
          <a:ln w="11430">
            <a:solidFill>
              <a:srgbClr val="119A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784080" y="2926080"/>
            <a:ext cx="0" cy="658368"/>
          </a:xfrm>
          <a:prstGeom prst="line">
            <a:avLst/>
          </a:prstGeom>
          <a:ln w="11430">
            <a:solidFill>
              <a:srgbClr val="119A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9656064" y="3584448"/>
            <a:ext cx="128016" cy="0"/>
          </a:xfrm>
          <a:prstGeom prst="line">
            <a:avLst/>
          </a:prstGeom>
          <a:ln w="11430">
            <a:solidFill>
              <a:srgbClr val="119A8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857232" y="2816352"/>
            <a:ext cx="960120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19A8D"/>
                </a:solidFill>
                <a:latin typeface="Times New Roman"/>
              </a:rPr>
              <a:t>current ãₜ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9728" y="4507992"/>
            <a:ext cx="11932920" cy="1737360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B5BEC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10896" y="4599432"/>
            <a:ext cx="205740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C95537"/>
                </a:solidFill>
                <a:latin typeface="Times New Roman"/>
              </a:rPr>
              <a:t>Training-only supervision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017520" y="5065776"/>
            <a:ext cx="1920240" cy="8595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145536" y="5175504"/>
            <a:ext cx="1664208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0252B"/>
                </a:solidFill>
                <a:latin typeface="Times New Roman"/>
              </a:rPr>
              <a:t>Joint optimization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36392" y="5449824"/>
            <a:ext cx="1682496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0" i="1">
                <a:solidFill>
                  <a:srgbClr val="20252B"/>
                </a:solidFill>
                <a:latin typeface="Times New Roman"/>
              </a:rPr>
              <a:t>L = LPPO + λMH LMH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36392" y="5687568"/>
            <a:ext cx="168249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8737D"/>
                </a:solidFill>
                <a:latin typeface="Times New Roman"/>
              </a:rPr>
              <a:t>shared predictive representation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522976" y="4873752"/>
            <a:ext cx="1664208" cy="557784"/>
          </a:xfrm>
          <a:prstGeom prst="roundRect">
            <a:avLst/>
          </a:prstGeom>
          <a:solidFill>
            <a:srgbClr val="E9F0F6"/>
          </a:solidFill>
          <a:ln w="1270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23560" y="4965192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44F73"/>
                </a:solidFill>
                <a:latin typeface="Times New Roman"/>
              </a:rPr>
              <a:t>PPO loss LPPO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23560" y="5202936"/>
            <a:ext cx="1463040" cy="14630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37D"/>
                </a:solidFill>
                <a:latin typeface="Times New Roman"/>
              </a:rPr>
              <a:t>policy and value learning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522976" y="5577840"/>
            <a:ext cx="1664208" cy="5577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119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623560" y="5669280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19A8D"/>
                </a:solidFill>
                <a:latin typeface="Times New Roman"/>
              </a:rPr>
              <a:t>Outcome loss LMH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23560" y="5907024"/>
            <a:ext cx="1463040" cy="14630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37D"/>
                </a:solidFill>
                <a:latin typeface="Times New Roman"/>
              </a:rPr>
              <a:t>predictive supervision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671816" y="4873752"/>
            <a:ext cx="1783080" cy="557784"/>
          </a:xfrm>
          <a:prstGeom prst="roundRect">
            <a:avLst/>
          </a:prstGeom>
          <a:solidFill>
            <a:srgbClr val="FCEDE8"/>
          </a:solidFill>
          <a:ln w="12700">
            <a:solidFill>
              <a:srgbClr val="C95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Isosceles Triangle 160"/>
          <p:cNvSpPr/>
          <p:nvPr/>
        </p:nvSpPr>
        <p:spPr>
          <a:xfrm rot="5400000">
            <a:off x="7772400" y="4965192"/>
            <a:ext cx="438912" cy="365760"/>
          </a:xfrm>
          <a:prstGeom prst="triangle">
            <a:avLst/>
          </a:prstGeom>
          <a:solidFill>
            <a:srgbClr val="FCEDE8"/>
          </a:solidFill>
          <a:ln w="10160">
            <a:solidFill>
              <a:srgbClr val="C95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083296" y="5084064"/>
            <a:ext cx="118872" cy="1188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5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7662672" y="5157216"/>
            <a:ext cx="338328" cy="137160"/>
          </a:xfrm>
          <a:prstGeom prst="line">
            <a:avLst/>
          </a:prstGeom>
          <a:ln w="10160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8275320" y="4937760"/>
            <a:ext cx="109728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95537"/>
                </a:solidFill>
                <a:latin typeface="Times New Roman"/>
              </a:rPr>
              <a:t>TTC-aware 3D-VO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75320" y="5193792"/>
            <a:ext cx="1097280" cy="15544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C95537"/>
                </a:solidFill>
                <a:latin typeface="Times New Roman"/>
              </a:rPr>
              <a:t>risk reward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671816" y="5577840"/>
            <a:ext cx="1783080" cy="5577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119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781544" y="5669280"/>
            <a:ext cx="1563624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19A8D"/>
                </a:solidFill>
                <a:latin typeface="Times New Roman"/>
              </a:rPr>
              <a:t>Multi-horizon targets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81544" y="5907024"/>
            <a:ext cx="1563624" cy="14630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37D"/>
                </a:solidFill>
                <a:latin typeface="Times New Roman"/>
              </a:rPr>
              <a:t>from rollout sequences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985248" y="4965192"/>
            <a:ext cx="190195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D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104120" y="5074920"/>
            <a:ext cx="1664208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52B"/>
                </a:solidFill>
                <a:latin typeface="Times New Roman"/>
              </a:rPr>
              <a:t>Parallel curriculum rollouts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104120" y="5340096"/>
            <a:ext cx="1664208" cy="1737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8737D"/>
                </a:solidFill>
                <a:latin typeface="Times New Roman"/>
              </a:rPr>
              <a:t>dynamic + non-convex obstacles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451592" y="5605272"/>
            <a:ext cx="137160" cy="274320"/>
          </a:xfrm>
          <a:prstGeom prst="rect">
            <a:avLst/>
          </a:prstGeom>
          <a:solidFill>
            <a:srgbClr val="3D8FC4"/>
          </a:solidFill>
          <a:ln w="6350">
            <a:solidFill>
              <a:srgbClr val="244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753344" y="5724144"/>
            <a:ext cx="384048" cy="137160"/>
          </a:xfrm>
          <a:prstGeom prst="rect">
            <a:avLst/>
          </a:prstGeom>
          <a:solidFill>
            <a:srgbClr val="D97A24"/>
          </a:solidFill>
          <a:ln w="6350">
            <a:solidFill>
              <a:srgbClr val="C95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 flipV="1">
            <a:off x="11356848" y="5614416"/>
            <a:ext cx="0" cy="265176"/>
          </a:xfrm>
          <a:prstGeom prst="line">
            <a:avLst/>
          </a:prstGeom>
          <a:ln w="1905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1356848" y="5614416"/>
            <a:ext cx="137160" cy="0"/>
          </a:xfrm>
          <a:prstGeom prst="line">
            <a:avLst/>
          </a:prstGeom>
          <a:ln w="1905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1494008" y="5614416"/>
            <a:ext cx="0" cy="155448"/>
          </a:xfrm>
          <a:prstGeom prst="line">
            <a:avLst/>
          </a:prstGeom>
          <a:ln w="1905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1494008" y="5769864"/>
            <a:ext cx="155448" cy="0"/>
          </a:xfrm>
          <a:prstGeom prst="line">
            <a:avLst/>
          </a:prstGeom>
          <a:ln w="19050">
            <a:solidFill>
              <a:srgbClr val="C69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 flipV="1">
            <a:off x="9454896" y="5157216"/>
            <a:ext cx="530352" cy="82296"/>
          </a:xfrm>
          <a:prstGeom prst="line">
            <a:avLst/>
          </a:prstGeom>
          <a:ln w="12700">
            <a:solidFill>
              <a:srgbClr val="C955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9454896" y="5733288"/>
            <a:ext cx="530352" cy="118872"/>
          </a:xfrm>
          <a:prstGeom prst="line">
            <a:avLst/>
          </a:prstGeom>
          <a:ln w="12700">
            <a:solidFill>
              <a:srgbClr val="119A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7187184" y="5157216"/>
            <a:ext cx="484632" cy="0"/>
          </a:xfrm>
          <a:prstGeom prst="line">
            <a:avLst/>
          </a:prstGeom>
          <a:ln w="12700">
            <a:solidFill>
              <a:srgbClr val="C955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7187184" y="5852160"/>
            <a:ext cx="484632" cy="0"/>
          </a:xfrm>
          <a:prstGeom prst="line">
            <a:avLst/>
          </a:prstGeom>
          <a:ln w="12700">
            <a:solidFill>
              <a:srgbClr val="119A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4937760" y="5157216"/>
            <a:ext cx="585216" cy="164592"/>
          </a:xfrm>
          <a:prstGeom prst="line">
            <a:avLst/>
          </a:prstGeom>
          <a:ln w="12700">
            <a:solidFill>
              <a:srgbClr val="244F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4937760" y="5650992"/>
            <a:ext cx="585216" cy="201168"/>
          </a:xfrm>
          <a:prstGeom prst="line">
            <a:avLst/>
          </a:prstGeom>
          <a:ln w="12700">
            <a:solidFill>
              <a:srgbClr val="119A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977639" y="4297680"/>
            <a:ext cx="0" cy="768096"/>
          </a:xfrm>
          <a:prstGeom prst="line">
            <a:avLst/>
          </a:prstGeom>
          <a:ln w="11430">
            <a:solidFill>
              <a:srgbClr val="244F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977639" y="4297680"/>
            <a:ext cx="2880361" cy="0"/>
          </a:xfrm>
          <a:prstGeom prst="line">
            <a:avLst/>
          </a:prstGeom>
          <a:ln w="11430">
            <a:solidFill>
              <a:srgbClr val="244F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58000" y="2660904"/>
            <a:ext cx="0" cy="1636776"/>
          </a:xfrm>
          <a:prstGeom prst="line">
            <a:avLst/>
          </a:prstGeom>
          <a:ln w="11430">
            <a:solidFill>
              <a:srgbClr val="244F7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4709160" y="4151376"/>
            <a:ext cx="16916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44F73"/>
                </a:solidFill>
                <a:latin typeface="Times New Roman"/>
              </a:rPr>
              <a:t>joint representation update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1750040" y="1554480"/>
            <a:ext cx="0" cy="2798064"/>
          </a:xfrm>
          <a:prstGeom prst="line">
            <a:avLst/>
          </a:prstGeom>
          <a:ln w="11430">
            <a:solidFill>
              <a:srgbClr val="3D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11292840" y="4352544"/>
            <a:ext cx="457200" cy="0"/>
          </a:xfrm>
          <a:prstGeom prst="line">
            <a:avLst/>
          </a:prstGeom>
          <a:ln w="11430">
            <a:solidFill>
              <a:srgbClr val="3D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1292840" y="4352544"/>
            <a:ext cx="0" cy="612648"/>
          </a:xfrm>
          <a:prstGeom prst="line">
            <a:avLst/>
          </a:prstGeom>
          <a:ln w="11430">
            <a:solidFill>
              <a:srgbClr val="3D4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11475720" y="4334256"/>
            <a:ext cx="420624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8737D"/>
                </a:solidFill>
                <a:latin typeface="Times New Roman"/>
              </a:rPr>
              <a:t>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